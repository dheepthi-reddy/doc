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oal" id="{61c3a840-af61-f316-99e8-e8da80925760}">
          <p14:sldIdLst>
            <p14:sldId id="256"/>
          </p14:sldIdLst>
        </p14:section>
        <p14:section name="What I built" id="{6c24f856-6305-e3e6-4161-12aee3b6a4e5}">
          <p14:sldIdLst>
            <p14:sldId id="257"/>
          </p14:sldIdLst>
        </p14:section>
        <p14:section name="Architecture" id="{96d480e6-5106-0d45-fec8-71b2163f4aa5}">
          <p14:sldIdLst>
            <p14:sldId id="258"/>
          </p14:sldIdLst>
        </p14:section>
        <p14:section name="Future scope" id="{96d4f2d7-338d-18ef-f99a-ef2a1206323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Next.js 16, React 18, TypeScript, Tailwind 4 on the frontend; FastAPI, SQLAlchemy 2, Pydantic 2, SQLite and the Anthropic SDK on the backend. No UI or animation libraries: icons, animations, toasts and sounds are hand-written. Tests: 67 pytest + 10 vitest.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flow: browser calls /api on Next.js, which rewrites to FastAPI (no CORS needed). FastAPI validates with Pydantic, checks the HMAC-signed bearer token and role, then reads/writes via SQLAlchemy. Auth: PBKDF2-SHA256 passwords, 12-hour stateless tokens, role-bound logins.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Health Companion · Dheepthi Reddy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Health Companion · Dheepthi Reddy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THE GOAL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Companion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One app where patients log their daily health in about a minute, and clinicians monitor every patient, message them privately and get safe AI summaries.</a:t>
            </a:r>
            <a:endParaRPr lang="en-US" sz="2000" dirty="0"/>
          </a:p>
        </p:txBody>
      </p:sp>
      <p:sp>
        <p:nvSpPr>
          <p:cNvPr id="5" name="Goal card 1"/>
          <p:cNvSpPr/>
          <p:nvPr/>
        </p:nvSpPr>
        <p:spPr>
          <a:xfrm>
            <a:off x="548640" y="2743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E5A46"/>
          </a:solidFill>
          <a:ln w="12700">
            <a:solidFill>
              <a:srgbClr val="0E5A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Goal 1 circle"/>
          <p:cNvSpPr/>
          <p:nvPr/>
        </p:nvSpPr>
        <p:spPr>
          <a:xfrm>
            <a:off x="868680" y="3063240"/>
            <a:ext cx="731520" cy="73152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7" name="Goal 1 icon" descr="Goal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46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daily logging effortless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6634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Food, activity, vitals, medicines and habits in one quick check-in, with streaks to keep patients coming back.</a:t>
            </a:r>
            <a:endParaRPr lang="en-US" sz="1400" dirty="0"/>
          </a:p>
        </p:txBody>
      </p:sp>
      <p:sp>
        <p:nvSpPr>
          <p:cNvPr id="10" name="Goal card 2"/>
          <p:cNvSpPr/>
          <p:nvPr/>
        </p:nvSpPr>
        <p:spPr>
          <a:xfrm>
            <a:off x="4297680" y="2743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E5A46"/>
          </a:solidFill>
          <a:ln w="12700">
            <a:solidFill>
              <a:srgbClr val="0E5A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Goal 2 circle"/>
          <p:cNvSpPr/>
          <p:nvPr/>
        </p:nvSpPr>
        <p:spPr>
          <a:xfrm>
            <a:off x="4617720" y="3063240"/>
            <a:ext cx="731520" cy="73152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12" name="Goal 2 icon" descr="Goal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32461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clinicians a triaged view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46634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Patients sorted by who needs attention, full 30-day records, and private one-to-one chat.</a:t>
            </a:r>
            <a:endParaRPr lang="en-US" sz="1400" dirty="0"/>
          </a:p>
        </p:txBody>
      </p:sp>
      <p:sp>
        <p:nvSpPr>
          <p:cNvPr id="15" name="Goal card 3"/>
          <p:cNvSpPr/>
          <p:nvPr/>
        </p:nvSpPr>
        <p:spPr>
          <a:xfrm>
            <a:off x="8046720" y="274320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0E5A46"/>
          </a:solidFill>
          <a:ln w="12700">
            <a:solidFill>
              <a:srgbClr val="0E5A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Goal 3 circle"/>
          <p:cNvSpPr/>
          <p:nvPr/>
        </p:nvSpPr>
        <p:spPr>
          <a:xfrm>
            <a:off x="8366760" y="3063240"/>
            <a:ext cx="731520" cy="73152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17" name="Goal 3 icon" descr="Goal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246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3977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without the risk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46634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AI only phrases numbers the app computed, never diagnoses, and falls back to a formula if it breaks a rule.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I BUILT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full-stack, two-role app with guard-railed AI</a:t>
            </a:r>
            <a:endParaRPr lang="en-US" sz="36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146304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atient Today circle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6" name="Patient Today icon" descr="Patient To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Today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Check-in streak with milestones, status card from latest BP and glucose, progress rings and tips.</a:t>
            </a:r>
            <a:endParaRPr lang="en-US" sz="1200" dirty="0"/>
          </a:p>
        </p:txBody>
      </p:sp>
      <p:sp>
        <p:nvSpPr>
          <p:cNvPr id="9" name="Feature card 2"/>
          <p:cNvSpPr/>
          <p:nvPr/>
        </p:nvSpPr>
        <p:spPr>
          <a:xfrm>
            <a:off x="3291840" y="146304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rack page circle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11" name="Track page icon" descr="Track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2044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page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Free-text meal parser (42 foods), MET-based calories burned, energy balance, vitals and BMI gauge.</a:t>
            </a:r>
            <a:endParaRPr lang="en-US" sz="1200" dirty="0"/>
          </a:p>
        </p:txBody>
      </p:sp>
      <p:sp>
        <p:nvSpPr>
          <p:cNvPr id="14" name="Feature card 3"/>
          <p:cNvSpPr/>
          <p:nvPr/>
        </p:nvSpPr>
        <p:spPr>
          <a:xfrm>
            <a:off x="6035040" y="146304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Medicines &amp; habits circle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16" name="Medicines &amp; habits icon" descr="Medicines &amp; habi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63640" y="23317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Medicines &amp; habits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63640" y="2697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Dose slots with Taken/Skip, reminders every 30 min via service worker, counted habits.</a:t>
            </a:r>
            <a:endParaRPr lang="en-US" sz="1200" dirty="0"/>
          </a:p>
        </p:txBody>
      </p:sp>
      <p:sp>
        <p:nvSpPr>
          <p:cNvPr id="19" name="Feature card 4"/>
          <p:cNvSpPr/>
          <p:nvPr/>
        </p:nvSpPr>
        <p:spPr>
          <a:xfrm>
            <a:off x="548640" y="39319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linician console circle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21" name="Clinician console icon" descr="Clinician conso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console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66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list sorted by severity, KPI tiles, 30-day records, availability and on-call cover.</a:t>
            </a:r>
            <a:endParaRPr lang="en-US" sz="1200" dirty="0"/>
          </a:p>
        </p:txBody>
      </p:sp>
      <p:sp>
        <p:nvSpPr>
          <p:cNvPr id="24" name="Feature card 5"/>
          <p:cNvSpPr/>
          <p:nvPr/>
        </p:nvSpPr>
        <p:spPr>
          <a:xfrm>
            <a:off x="3291840" y="39319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Private messaging circle"/>
          <p:cNvSpPr/>
          <p:nvPr/>
        </p:nvSpPr>
        <p:spPr>
          <a:xfrm>
            <a:off x="3520440" y="416052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26" name="Private messaging icon" descr="Private messag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52044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messaging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520440" y="5166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conversation per patient–doctor pair, enforced in queries; unread badges and on-call routing.</a:t>
            </a:r>
            <a:endParaRPr lang="en-US" sz="1200" dirty="0"/>
          </a:p>
        </p:txBody>
      </p:sp>
      <p:sp>
        <p:nvSpPr>
          <p:cNvPr id="29" name="Feature card 6"/>
          <p:cNvSpPr/>
          <p:nvPr/>
        </p:nvSpPr>
        <p:spPr>
          <a:xfrm>
            <a:off x="6035040" y="3931920"/>
            <a:ext cx="2514600" cy="2240280"/>
          </a:xfrm>
          <a:prstGeom prst="roundRect">
            <a:avLst>
              <a:gd name="adj" fmla="val 4898"/>
            </a:avLst>
          </a:prstGeom>
          <a:solidFill>
            <a:srgbClr val="EEF6F2"/>
          </a:solidFill>
          <a:ln w="12700">
            <a:solidFill>
              <a:srgbClr val="EEF6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AI with guardrails circle"/>
          <p:cNvSpPr/>
          <p:nvPr/>
        </p:nvSpPr>
        <p:spPr>
          <a:xfrm>
            <a:off x="6263640" y="4160520"/>
            <a:ext cx="548640" cy="548640"/>
          </a:xfrm>
          <a:prstGeom prst="ellipse">
            <a:avLst/>
          </a:prstGeom>
          <a:solidFill>
            <a:srgbClr val="0F8A64"/>
          </a:solidFill>
          <a:ln w="12700">
            <a:solidFill>
              <a:srgbClr val="0F8A64"/>
            </a:solidFill>
            <a:prstDash val="solid"/>
          </a:ln>
        </p:spPr>
      </p:sp>
      <p:pic>
        <p:nvPicPr>
          <p:cNvPr id="31" name="AI with guardrails icon" descr="AI with guardrai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63640" y="4800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with guardrails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263640" y="5166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Claude summaries and sign-up calorie plan on de-identified numbers, validated, labelled, audited.</a:t>
            </a:r>
            <a:endParaRPr lang="en-US" sz="1200" dirty="0"/>
          </a:p>
        </p:txBody>
      </p:sp>
      <p:sp>
        <p:nvSpPr>
          <p:cNvPr id="34" name="Stats panel"/>
          <p:cNvSpPr/>
          <p:nvPr/>
        </p:nvSpPr>
        <p:spPr>
          <a:xfrm>
            <a:off x="8915400" y="1463040"/>
            <a:ext cx="2743200" cy="4709160"/>
          </a:xfrm>
          <a:prstGeom prst="roundRect">
            <a:avLst>
              <a:gd name="adj" fmla="val 4000"/>
            </a:avLst>
          </a:prstGeom>
          <a:solidFill>
            <a:srgbClr val="0B4D3B"/>
          </a:solidFill>
          <a:ln w="12700">
            <a:solidFill>
              <a:srgbClr val="0B4D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918972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800" dirty="0"/>
          </a:p>
        </p:txBody>
      </p:sp>
      <p:sp>
        <p:nvSpPr>
          <p:cNvPr id="36" name="Text 28"/>
          <p:cNvSpPr txBox="1"/>
          <p:nvPr/>
        </p:nvSpPr>
        <p:spPr>
          <a:xfrm>
            <a:off x="91897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API endpoints</a:t>
            </a:r>
            <a:endParaRPr lang="en-US" sz="1400" dirty="0"/>
          </a:p>
        </p:txBody>
      </p:sp>
      <p:sp>
        <p:nvSpPr>
          <p:cNvPr id="37" name="Text 29"/>
          <p:cNvSpPr txBox="1"/>
          <p:nvPr/>
        </p:nvSpPr>
        <p:spPr>
          <a:xfrm>
            <a:off x="9189720" y="3154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800" dirty="0"/>
          </a:p>
        </p:txBody>
      </p:sp>
      <p:sp>
        <p:nvSpPr>
          <p:cNvPr id="38" name="Text 30"/>
          <p:cNvSpPr txBox="1"/>
          <p:nvPr/>
        </p:nvSpPr>
        <p:spPr>
          <a:xfrm>
            <a:off x="918972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SQLite tables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9189720" y="46177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4800" dirty="0"/>
          </a:p>
        </p:txBody>
      </p:sp>
      <p:sp>
        <p:nvSpPr>
          <p:cNvPr id="40" name="Text 32"/>
          <p:cNvSpPr txBox="1"/>
          <p:nvPr/>
        </p:nvSpPr>
        <p:spPr>
          <a:xfrm>
            <a:off x="9189720" y="5394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automated tests, all passing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fronts the app; FastAPI owns the data</a:t>
            </a:r>
            <a:endParaRPr lang="en-US" sz="3600" dirty="0"/>
          </a:p>
        </p:txBody>
      </p:sp>
      <p:sp>
        <p:nvSpPr>
          <p:cNvPr id="4" name="Browser box"/>
          <p:cNvSpPr/>
          <p:nvPr/>
        </p:nvSpPr>
        <p:spPr>
          <a:xfrm>
            <a:off x="548640" y="160020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B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 (per tab)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Next.js pages, React 18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Token in sessionStorage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Polls chat every 8–20 s · service worker</a:t>
            </a:r>
            <a:endParaRPr lang="en-US" sz="1600" dirty="0"/>
          </a:p>
        </p:txBody>
      </p:sp>
      <p:sp>
        <p:nvSpPr>
          <p:cNvPr id="6" name="Next.js box"/>
          <p:cNvSpPr/>
          <p:nvPr/>
        </p:nvSpPr>
        <p:spPr>
          <a:xfrm>
            <a:off x="4434840" y="160020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B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91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Next.js server :3000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Serves the app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Rewrites /api/* to 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(BACKEND_URL)</a:t>
            </a:r>
            <a:endParaRPr lang="en-US" sz="1600" dirty="0"/>
          </a:p>
        </p:txBody>
      </p:sp>
      <p:sp>
        <p:nvSpPr>
          <p:cNvPr id="8" name="FastAPI box"/>
          <p:cNvSpPr/>
          <p:nvPr/>
        </p:nvSpPr>
        <p:spPr>
          <a:xfrm>
            <a:off x="8321040" y="160020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D7EDE4"/>
          </a:solidFill>
          <a:ln w="25400">
            <a:solidFill>
              <a:srgbClr val="0F8A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58200" y="16916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 :8000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Checks token and role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Routers: auth, patient, clinician,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messages, notifications</a:t>
            </a:r>
            <a:endParaRPr lang="en-US" sz="1600" dirty="0"/>
          </a:p>
        </p:txBody>
      </p:sp>
      <p:sp>
        <p:nvSpPr>
          <p:cNvPr id="10" name="Arrow browser to Next"/>
          <p:cNvSpPr/>
          <p:nvPr/>
        </p:nvSpPr>
        <p:spPr>
          <a:xfrm>
            <a:off x="3840480" y="2331720"/>
            <a:ext cx="594360" cy="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3840480" y="1965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/api</a:t>
            </a:r>
            <a:endParaRPr lang="en-US" sz="1100" dirty="0"/>
          </a:p>
        </p:txBody>
      </p:sp>
      <p:sp>
        <p:nvSpPr>
          <p:cNvPr id="12" name="Arrow Next to FastAPI"/>
          <p:cNvSpPr/>
          <p:nvPr/>
        </p:nvSpPr>
        <p:spPr>
          <a:xfrm>
            <a:off x="7726680" y="2331720"/>
            <a:ext cx="594360" cy="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7726680" y="19659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proxy</a:t>
            </a:r>
            <a:endParaRPr lang="en-US" sz="1100" dirty="0"/>
          </a:p>
        </p:txBody>
      </p:sp>
      <p:sp>
        <p:nvSpPr>
          <p:cNvPr id="14" name="Bus stem"/>
          <p:cNvSpPr/>
          <p:nvPr/>
        </p:nvSpPr>
        <p:spPr>
          <a:xfrm>
            <a:off x="9966960" y="3063240"/>
            <a:ext cx="0" cy="59436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</a:ln>
        </p:spPr>
      </p:sp>
      <p:sp>
        <p:nvSpPr>
          <p:cNvPr id="15" name="Bus"/>
          <p:cNvSpPr/>
          <p:nvPr/>
        </p:nvSpPr>
        <p:spPr>
          <a:xfrm>
            <a:off x="2194560" y="3657600"/>
            <a:ext cx="7772400" cy="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</a:ln>
        </p:spPr>
      </p:sp>
      <p:sp>
        <p:nvSpPr>
          <p:cNvPr id="16" name="Drop 0"/>
          <p:cNvSpPr/>
          <p:nvPr/>
        </p:nvSpPr>
        <p:spPr>
          <a:xfrm>
            <a:off x="2194560" y="3657600"/>
            <a:ext cx="0" cy="41148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  <a:tailEnd type="triangle"/>
          </a:ln>
        </p:spPr>
      </p:sp>
      <p:sp>
        <p:nvSpPr>
          <p:cNvPr id="17" name="Drop 1"/>
          <p:cNvSpPr/>
          <p:nvPr/>
        </p:nvSpPr>
        <p:spPr>
          <a:xfrm>
            <a:off x="6080760" y="3657600"/>
            <a:ext cx="0" cy="41148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  <a:tailEnd type="triangle"/>
          </a:ln>
        </p:spPr>
      </p:sp>
      <p:sp>
        <p:nvSpPr>
          <p:cNvPr id="18" name="Drop 2"/>
          <p:cNvSpPr/>
          <p:nvPr/>
        </p:nvSpPr>
        <p:spPr>
          <a:xfrm>
            <a:off x="9966960" y="3657600"/>
            <a:ext cx="0" cy="411480"/>
          </a:xfrm>
          <a:prstGeom prst="line">
            <a:avLst/>
          </a:prstGeom>
          <a:noFill/>
          <a:ln w="19050">
            <a:solidFill>
              <a:srgbClr val="5C6F6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108960" y="33649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outbound, server-side only</a:t>
            </a:r>
            <a:endParaRPr lang="en-US" sz="1100" dirty="0"/>
          </a:p>
        </p:txBody>
      </p:sp>
      <p:sp>
        <p:nvSpPr>
          <p:cNvPr id="20" name="Google box"/>
          <p:cNvSpPr/>
          <p:nvPr/>
        </p:nvSpPr>
        <p:spPr>
          <a:xfrm>
            <a:off x="548640" y="4069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B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Google tokeninfo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Verifies Google ID tokens at sign-in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(if GOOGLE_CLIENT_ID is set)</a:t>
            </a:r>
            <a:endParaRPr lang="en-US" sz="1600" dirty="0"/>
          </a:p>
        </p:txBody>
      </p:sp>
      <p:sp>
        <p:nvSpPr>
          <p:cNvPr id="22" name="Anthropic box"/>
          <p:cNvSpPr/>
          <p:nvPr/>
        </p:nvSpPr>
        <p:spPr>
          <a:xfrm>
            <a:off x="4434840" y="4069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B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Anthropic 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Claude Opus 5.5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Clinician summaries and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sign-up calorie plan</a:t>
            </a:r>
            <a:endParaRPr lang="en-US" sz="1600" dirty="0"/>
          </a:p>
        </p:txBody>
      </p:sp>
      <p:sp>
        <p:nvSpPr>
          <p:cNvPr id="24" name="SQLite box"/>
          <p:cNvSpPr/>
          <p:nvPr/>
        </p:nvSpPr>
        <p:spPr>
          <a:xfrm>
            <a:off x="8321040" y="40690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B9CB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41605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 health.db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14 tables in one file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via SQLAlchemy 2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Committed on every write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Only FastAPI holds secrets (signing key, Anthropic key) and touches the database; the browser never calls Claude, Google or SQLite directly.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production pilot</a:t>
            </a:r>
            <a:endParaRPr lang="en-US" sz="3600" dirty="0"/>
          </a:p>
        </p:txBody>
      </p:sp>
      <p:sp>
        <p:nvSpPr>
          <p:cNvPr id="4" name="Production database circle"/>
          <p:cNvSpPr/>
          <p:nvPr/>
        </p:nvSpPr>
        <p:spPr>
          <a:xfrm>
            <a:off x="548640" y="1508760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5" name="Production database icon" descr="Production 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database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828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Move from SQLite to PostgreSQL with Alembic migrations.</a:t>
            </a:r>
            <a:endParaRPr lang="en-US" sz="1400" dirty="0"/>
          </a:p>
        </p:txBody>
      </p:sp>
      <p:sp>
        <p:nvSpPr>
          <p:cNvPr id="8" name="Stronger sessions &amp; accounts circle"/>
          <p:cNvSpPr/>
          <p:nvPr/>
        </p:nvSpPr>
        <p:spPr>
          <a:xfrm>
            <a:off x="6217920" y="1508760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9" name="Stronger sessions &amp; accounts icon" descr="Stronger sessions &amp; accou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370" y="168021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Stronger sessions &amp; accounts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1828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HttpOnly cookies or refresh tokens, email verification, password reset, login rate limiting.</a:t>
            </a:r>
            <a:endParaRPr lang="en-US" sz="1400" dirty="0"/>
          </a:p>
        </p:txBody>
      </p:sp>
      <p:sp>
        <p:nvSpPr>
          <p:cNvPr id="12" name="Tighter clinician access circle"/>
          <p:cNvSpPr/>
          <p:nvPr/>
        </p:nvSpPr>
        <p:spPr>
          <a:xfrm>
            <a:off x="548640" y="2715768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13" name="Tighter clinician access icon" descr="Tighter clinician acc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887218"/>
            <a:ext cx="342900" cy="3429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Tighter clinician access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30358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Limit records to the assigned doctor, explicit sharing or on-call cover.</a:t>
            </a:r>
            <a:endParaRPr lang="en-US" sz="1400" dirty="0"/>
          </a:p>
        </p:txBody>
      </p:sp>
      <p:sp>
        <p:nvSpPr>
          <p:cNvPr id="16" name="Real-time messaging circle"/>
          <p:cNvSpPr/>
          <p:nvPr/>
        </p:nvSpPr>
        <p:spPr>
          <a:xfrm>
            <a:off x="6217920" y="2715768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17" name="Real-time messaging icon" descr="Real-time messa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370" y="2887218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messaging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132320" y="30358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WebSockets or server-sent events with server-side read receipts.</a:t>
            </a:r>
            <a:endParaRPr lang="en-US" sz="1400" dirty="0"/>
          </a:p>
        </p:txBody>
      </p:sp>
      <p:sp>
        <p:nvSpPr>
          <p:cNvPr id="20" name="Web Push reminders circle"/>
          <p:cNvSpPr/>
          <p:nvPr/>
        </p:nvSpPr>
        <p:spPr>
          <a:xfrm>
            <a:off x="548640" y="3922776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21" name="Web Push reminders icon" descr="Web Push remind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094226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877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Push reminders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1463040" y="424281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VAPID-based push so medicine reminders arrive even with the app closed.</a:t>
            </a:r>
            <a:endParaRPr lang="en-US" sz="1400" dirty="0"/>
          </a:p>
        </p:txBody>
      </p:sp>
      <p:sp>
        <p:nvSpPr>
          <p:cNvPr id="24" name="Smarter AI guardrails circle"/>
          <p:cNvSpPr/>
          <p:nvPr/>
        </p:nvSpPr>
        <p:spPr>
          <a:xfrm>
            <a:off x="6217920" y="3922776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25" name="Smarter AI guardrails icon" descr="Smarter AI guardrai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9370" y="4094226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32320" y="38770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AI guardrails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7132320" y="424281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Add a classifier or human approval step on top of keyword and number checks.</a:t>
            </a:r>
            <a:endParaRPr lang="en-US" sz="1400" dirty="0"/>
          </a:p>
        </p:txBody>
      </p:sp>
      <p:sp>
        <p:nvSpPr>
          <p:cNvPr id="28" name="Clinician-set targets circle"/>
          <p:cNvSpPr/>
          <p:nvPr/>
        </p:nvSpPr>
        <p:spPr>
          <a:xfrm>
            <a:off x="548640" y="5129784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29" name="Clinician-set targets icon" descr="Clinician-set target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90" y="5301234"/>
            <a:ext cx="342900" cy="3429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63040" y="5084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Clinician-set targets</a:t>
            </a:r>
            <a:endParaRPr lang="en-US" sz="1700" dirty="0"/>
          </a:p>
        </p:txBody>
      </p:sp>
      <p:sp>
        <p:nvSpPr>
          <p:cNvPr id="31" name="Text 22"/>
          <p:cNvSpPr txBox="1"/>
          <p:nvPr/>
        </p:nvSpPr>
        <p:spPr>
          <a:xfrm>
            <a:off x="1463040" y="54498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Per-patient thresholds and calorie goals instead of general formulas.</a:t>
            </a:r>
            <a:endParaRPr lang="en-US" sz="1400" dirty="0"/>
          </a:p>
        </p:txBody>
      </p:sp>
      <p:sp>
        <p:nvSpPr>
          <p:cNvPr id="32" name="End-to-end tests circle"/>
          <p:cNvSpPr/>
          <p:nvPr/>
        </p:nvSpPr>
        <p:spPr>
          <a:xfrm>
            <a:off x="6217920" y="5129784"/>
            <a:ext cx="685800" cy="685800"/>
          </a:xfrm>
          <a:prstGeom prst="ellipse">
            <a:avLst/>
          </a:prstGeom>
          <a:solidFill>
            <a:srgbClr val="34C38F"/>
          </a:solidFill>
          <a:ln w="12700">
            <a:solidFill>
              <a:srgbClr val="34C38F"/>
            </a:solidFill>
            <a:prstDash val="solid"/>
          </a:ln>
        </p:spPr>
      </p:sp>
      <p:pic>
        <p:nvPicPr>
          <p:cNvPr id="33" name="End-to-end tests icon" descr="End-to-end test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9370" y="5301234"/>
            <a:ext cx="342900" cy="3429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132320" y="50840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tests</a:t>
            </a:r>
            <a:endParaRPr lang="en-US" sz="1700" dirty="0"/>
          </a:p>
        </p:txBody>
      </p:sp>
      <p:sp>
        <p:nvSpPr>
          <p:cNvPr id="35" name="Text 25"/>
          <p:cNvSpPr txBox="1"/>
          <p:nvPr/>
        </p:nvSpPr>
        <p:spPr>
          <a:xfrm>
            <a:off x="7132320" y="5449824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Automated browser tests to complement the 77 unit and API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 Companion">
  <a:themeElements>
    <a:clrScheme name="Health Companion">
      <a:dk1>
        <a:srgbClr val="17302A"/>
      </a:dk1>
      <a:lt1>
        <a:srgbClr val="FFFFFF"/>
      </a:lt1>
      <a:dk2>
        <a:srgbClr val="0B4D3B"/>
      </a:dk2>
      <a:lt2>
        <a:srgbClr val="EEF6F2"/>
      </a:lt2>
      <a:accent1>
        <a:srgbClr val="0F8A64"/>
      </a:accent1>
      <a:accent2>
        <a:srgbClr val="34C38F"/>
      </a:accent2>
      <a:accent3>
        <a:srgbClr val="F2A541"/>
      </a:accent3>
      <a:accent4>
        <a:srgbClr val="5C6F69"/>
      </a:accent4>
      <a:accent5>
        <a:srgbClr val="D7EDE4"/>
      </a:accent5>
      <a:accent6>
        <a:srgbClr val="E25C4B"/>
      </a:accent6>
      <a:hlink>
        <a:srgbClr val="0F8A64"/>
      </a:hlink>
      <a:folHlink>
        <a:srgbClr val="0B4D3B"/>
      </a:folHlink>
    </a:clrScheme>
    <a:fontScheme name="Health Compan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Companion</dc:title>
  <dc:subject>PptxGenJS Presentation</dc:subject>
  <dc:creator>Dheepthi Reddy</dc:creator>
  <cp:lastModifiedBy>Dheepthi Reddy</cp:lastModifiedBy>
  <cp:revision>1</cp:revision>
  <dcterms:created xsi:type="dcterms:W3CDTF">2026-10-13T16:59:57Z</dcterms:created>
  <dcterms:modified xsi:type="dcterms:W3CDTF">2026-10-13T16:59:57Z</dcterms:modified>
</cp:coreProperties>
</file>